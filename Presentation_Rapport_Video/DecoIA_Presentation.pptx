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70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432962" y="-631841"/>
            <a:ext cx="2286000" cy="1828800"/>
          </a:xfrm>
          <a:prstGeom prst="rect">
            <a:avLst/>
          </a:prstGeom>
          <a:solidFill>
            <a:srgbClr val="4A9B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DecoIA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Virtuelle des Intérieurs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Intelligence Artificielle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18288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Réalisée par : El Ouatiki Hafsa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4ème Année Ingénierie Informatique et Réseaux | 2025/2026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828800" cy="45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320040" cy="320040"/>
          </a:xfrm>
          <a:prstGeom prst="ellipse">
            <a:avLst/>
          </a:prstGeom>
          <a:solidFill>
            <a:srgbClr val="4A9B7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73352"/>
            <a:ext cx="320040" cy="320040"/>
          </a:xfrm>
          <a:prstGeom prst="ellipse">
            <a:avLst/>
          </a:prstGeom>
          <a:solidFill>
            <a:srgbClr val="4A9B7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73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71907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03704"/>
            <a:ext cx="320040" cy="320040"/>
          </a:xfrm>
          <a:prstGeom prst="ellipse">
            <a:avLst/>
          </a:prstGeom>
          <a:solidFill>
            <a:srgbClr val="4A9B7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037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24942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34056"/>
            <a:ext cx="320040" cy="320040"/>
          </a:xfrm>
          <a:prstGeom prst="ellipse">
            <a:avLst/>
          </a:prstGeom>
          <a:solidFill>
            <a:srgbClr val="4A9B7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34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77977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64408"/>
            <a:ext cx="320040" cy="320040"/>
          </a:xfrm>
          <a:prstGeom prst="ellipse">
            <a:avLst/>
          </a:prstGeom>
          <a:solidFill>
            <a:srgbClr val="4A9B7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644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31012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320040" cy="320040"/>
          </a:xfrm>
          <a:prstGeom prst="ellipse">
            <a:avLst/>
          </a:prstGeom>
          <a:solidFill>
            <a:srgbClr val="4A9B7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8404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320040" cy="320040"/>
          </a:xfrm>
          <a:prstGeom prst="ellipse">
            <a:avLst/>
          </a:prstGeom>
          <a:solidFill>
            <a:srgbClr val="4A9B7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325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3708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855464"/>
            <a:ext cx="320040" cy="320040"/>
          </a:xfrm>
          <a:prstGeom prst="ellipse">
            <a:avLst/>
          </a:prstGeom>
          <a:solidFill>
            <a:srgbClr val="4A9B7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554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490118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Perspectives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CONTEXTE &amp; PROBLÉMATIQUE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286000" cy="45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411480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4A9B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CONTEXTE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l'ère du numérique, les utilisateurs recherchent des solutions innovantes pour visualiser et aménager leurs espaces avant d'investir.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325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PROBLÉMATIQUE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à imaginer le résultat final d'une décoration sans connaissances en design. Besoin de solutions personnalisées et accessibles.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841248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1B4D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54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OBJECTIF PRINCIPAL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Développer une application mobile Android intelligente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Transformer automatiquement une photo de pièce en décoration réaliste via IA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4160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Préserver la structure originale (murs, fenêtres, perspective)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480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Permettre la comparaison avant/après pour validation utilisateur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PRÉSENTATION DU PROJET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286000" cy="45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GÉNÉRALE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Application mobile Android native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64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Développement en Java &amp; XML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665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Backend Flask (Python)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682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API REST sécurisée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700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Intégration IA (Gemini/Groq)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Optimisation prompt engineering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DU PROJET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463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7190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DecoIA - Application de transformation virtuelle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103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3591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"Visualisez votre style avant de le réaliser"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743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Couleurs Brand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3017520"/>
            <a:ext cx="457200" cy="27432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0" y="3017520"/>
            <a:ext cx="457200" cy="274320"/>
          </a:xfrm>
          <a:prstGeom prst="rect">
            <a:avLst/>
          </a:prstGeom>
          <a:solidFill>
            <a:srgbClr val="4A9B7F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3017520"/>
            <a:ext cx="457200" cy="2743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337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foncé • Vert moyen • 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CIBLE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389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Propriétaires et locataires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06040" y="4389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10896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Amateurs de design intérieur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4389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Android actifs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03720" y="4389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🌟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0664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 en quête de leur style personnel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ANALYSE DES BESOINS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286000" cy="45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solidFill>
            <a:srgbClr val="4A9B7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FONCTIONNELS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◾ Authentification utilisateur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◾ Capture &amp; importation images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◾ Prévisualisation avant envoi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◾ Génération décoration par IA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◾ Comparaison avant/après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◾ Localisation GPS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◾ Chat assistant IA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◾ Historique des projets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0" y="1097280"/>
            <a:ext cx="3840480" cy="274320"/>
          </a:xfrm>
          <a:prstGeom prst="rect">
            <a:avLst/>
          </a:prstGeom>
          <a:solidFill>
            <a:srgbClr val="4A9B7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NON-FONCTIONNELS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463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Performance rapide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0" y="17373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Sécurité des données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0" y="2011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Fiabilité système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0" y="2286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Compatibilité Android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0" y="2560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Utilisabilité simple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2834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Code maintenable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GESTION CLÉS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Utilisateur doit être connecté pour accéder aux fonctionnalités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455371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Image doit être capturée/importée avant génération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718304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L'IA doit préserver la structure originale de la pièce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89204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Résultat affiché avec image originale pour comparaison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523036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Gestion des erreurs en cas d'échec de génération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ARCHITECTURE TECHNIQUE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286000" cy="45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Client-Serveur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286000" cy="1828800"/>
          </a:xfrm>
          <a:prstGeom prst="rect">
            <a:avLst/>
          </a:prstGeom>
          <a:solidFill>
            <a:srgbClr val="4A9B7F"/>
          </a:solidFill>
          <a:ln w="25400">
            <a:solidFill>
              <a:srgbClr val="1B4D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Android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XML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2560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/ OkHttp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31089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 (images)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 rot="5400000">
            <a:off x="3108960" y="2377440"/>
            <a:ext cx="228600" cy="137160"/>
          </a:xfrm>
          <a:prstGeom prst="triangle">
            <a:avLst/>
          </a:prstGeom>
          <a:solidFill>
            <a:srgbClr val="D4A574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0" y="1554480"/>
            <a:ext cx="2286000" cy="1828800"/>
          </a:xfrm>
          <a:prstGeom prst="rect">
            <a:avLst/>
          </a:prstGeom>
          <a:solidFill>
            <a:srgbClr val="D4A574"/>
          </a:solidFill>
          <a:ln w="25400">
            <a:solidFill>
              <a:srgbClr val="1B4D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2011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Flask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11880" y="22860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11880" y="2560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11880" y="2834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images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11880" y="31089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 rot="5400000">
            <a:off x="5852160" y="2377440"/>
            <a:ext cx="228600" cy="137160"/>
          </a:xfrm>
          <a:prstGeom prst="triangle">
            <a:avLst/>
          </a:prstGeom>
          <a:solidFill>
            <a:srgbClr val="D4A574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1554480"/>
            <a:ext cx="2286000" cy="1828800"/>
          </a:xfrm>
          <a:prstGeom prst="rect">
            <a:avLst/>
          </a:prstGeom>
          <a:solidFill>
            <a:srgbClr val="1B4D3E"/>
          </a:solidFill>
          <a:ln w="25400">
            <a:solidFill>
              <a:srgbClr val="1B4D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6459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1901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ARTIFICIELLE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2194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Gemini/Groq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2468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images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27432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images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3017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optimisé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3657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DONNÉES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023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Capture/Import de photo → 2️⃣ Envoi HTTP POST au Backend → 3️⃣ Préparation du prompt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44074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Requête API IA → 5️⃣ Génération image décorée → 6️⃣ Retour résultat à l'app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TECHNOLOGIES UTILISÉES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286000" cy="45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4206240" cy="2377440"/>
          </a:xfrm>
          <a:prstGeom prst="rect">
            <a:avLst/>
          </a:prstGeom>
          <a:solidFill>
            <a:srgbClr val="F8F9FA"/>
          </a:solidFill>
          <a:ln w="19050">
            <a:solidFill>
              <a:srgbClr val="4A9B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25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325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Java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Android Studio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XML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Material Design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Retrofit/OkHttp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1546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Glide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4206240" cy="2377440"/>
          </a:xfrm>
          <a:prstGeom prst="rect">
            <a:avLst/>
          </a:prstGeom>
          <a:solidFill>
            <a:srgbClr val="F8F9FA"/>
          </a:solidFill>
          <a:ln w="19050">
            <a:solidFill>
              <a:srgbClr val="4A9B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325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40680" y="1325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17830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20574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Flask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2331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API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2606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Postman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28803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4429" y="3656907"/>
            <a:ext cx="4206240" cy="1349433"/>
          </a:xfrm>
          <a:prstGeom prst="rect">
            <a:avLst/>
          </a:prstGeom>
          <a:solidFill>
            <a:srgbClr val="F8F9FA"/>
          </a:solidFill>
          <a:ln w="19050">
            <a:solidFill>
              <a:srgbClr val="4A9B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0690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3000" y="4069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Données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526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Gemini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4800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Groq API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4469" y="435483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703320"/>
            <a:ext cx="4206240" cy="1303020"/>
          </a:xfrm>
          <a:prstGeom prst="rect">
            <a:avLst/>
          </a:prstGeom>
          <a:solidFill>
            <a:srgbClr val="F8F9FA"/>
          </a:solidFill>
          <a:ln w="19050">
            <a:solidFill>
              <a:srgbClr val="4A9B7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40690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40680" y="4069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74920" y="4526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Git/GitHub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74920" y="4800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Actions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74920" y="4331623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Firebase (optionnel)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FONCTIONNALITÉS CLÉS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286000" cy="45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011680" cy="2103120"/>
          </a:xfrm>
          <a:prstGeom prst="rect">
            <a:avLst/>
          </a:prstGeom>
          <a:solidFill>
            <a:srgbClr val="F8F9FA"/>
          </a:solidFill>
          <a:ln w="19050">
            <a:solidFill>
              <a:srgbClr val="D4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&amp; connexion sécurisées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2011680" cy="2103120"/>
          </a:xfrm>
          <a:prstGeom prst="rect">
            <a:avLst/>
          </a:prstGeom>
          <a:solidFill>
            <a:srgbClr val="F8F9FA"/>
          </a:solidFill>
          <a:ln w="19050">
            <a:solidFill>
              <a:srgbClr val="D4A5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📸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Galerie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2240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caméra ou galerie téléphone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2011680" cy="2103120"/>
          </a:xfrm>
          <a:prstGeom prst="rect">
            <a:avLst/>
          </a:prstGeom>
          <a:solidFill>
            <a:srgbClr val="F8F9FA"/>
          </a:solidFill>
          <a:ln w="19050">
            <a:solidFill>
              <a:srgbClr val="D4A5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Prévisualisation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240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avant envoi au serveur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66560" y="1188720"/>
            <a:ext cx="2011680" cy="2103120"/>
          </a:xfrm>
          <a:prstGeom prst="rect">
            <a:avLst/>
          </a:prstGeom>
          <a:solidFill>
            <a:srgbClr val="F8F9FA"/>
          </a:solidFill>
          <a:ln w="19050">
            <a:solidFill>
              <a:srgbClr val="D4A5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2240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décoration en temps réel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2011680" cy="1295400"/>
          </a:xfrm>
          <a:prstGeom prst="rect">
            <a:avLst/>
          </a:prstGeom>
          <a:solidFill>
            <a:srgbClr val="F8F9FA"/>
          </a:solidFill>
          <a:ln w="19050">
            <a:solidFill>
              <a:srgbClr val="D4A5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864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3205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Avant/après côte à côte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0" y="3657600"/>
            <a:ext cx="2011680" cy="1295400"/>
          </a:xfrm>
          <a:prstGeom prst="rect">
            <a:avLst/>
          </a:prstGeom>
          <a:solidFill>
            <a:srgbClr val="F8F9FA"/>
          </a:solidFill>
          <a:ln w="19050">
            <a:solidFill>
              <a:srgbClr val="D4A5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65176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79469" y="4353791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pour contextualiser l'usage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44044" y="3657600"/>
            <a:ext cx="2011680" cy="1295400"/>
          </a:xfrm>
          <a:prstGeom prst="rect">
            <a:avLst/>
          </a:prstGeom>
          <a:solidFill>
            <a:srgbClr val="F8F9FA"/>
          </a:solidFill>
          <a:ln w="19050">
            <a:solidFill>
              <a:srgbClr val="D4A5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75488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27171" y="43967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pour questions décoration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766560" y="3657600"/>
            <a:ext cx="2011680" cy="1295400"/>
          </a:xfrm>
          <a:prstGeom prst="rect">
            <a:avLst/>
          </a:prstGeom>
          <a:solidFill>
            <a:srgbClr val="F8F9FA"/>
          </a:solidFill>
          <a:ln w="19050">
            <a:solidFill>
              <a:srgbClr val="D4A57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85800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03720" y="43053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des projets antérieurs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INTELLIGENCE ARTIFICIELLE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286000" cy="45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411480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1B4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RÔLE DE L'IA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Analyse structure de la pièce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9019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Détection du style existant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15798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Génération décoration réaliste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41401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Préservation perspective &amp; murs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6700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Respect angle de vue initial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Adaptation styles multiples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1143000"/>
            <a:ext cx="38404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PROMPT ENGINEERING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16459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Preservation structure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2080" y="190195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Styles multiples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12080" y="215798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Cohérence couleurs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12080" y="241401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Réalisme image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12080" y="26700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Respect constraints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12080" y="29260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Qualité HD output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5636" y="34975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IA INTÉGRÉS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4114800" cy="1280160"/>
          </a:xfrm>
          <a:prstGeom prst="rect">
            <a:avLst/>
          </a:prstGeom>
          <a:solidFill>
            <a:srgbClr val="4A9B7F"/>
          </a:solidFill>
          <a:ln w="19050">
            <a:solidFill>
              <a:srgbClr val="1B4D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160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4348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avancée images et génération alternatives avec haute qualité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3821776"/>
            <a:ext cx="3840480" cy="1280160"/>
          </a:xfrm>
          <a:prstGeom prst="rect">
            <a:avLst/>
          </a:prstGeom>
          <a:solidFill>
            <a:srgbClr val="D4A574"/>
          </a:solidFill>
          <a:ln w="19050">
            <a:solidFill>
              <a:srgbClr val="1B4D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4160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44348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ultra-rapide pour génération images optimisées en temps réel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RÉSULTATS &amp; PERSPECTIVES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286000" cy="45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4114800" cy="274320"/>
          </a:xfrm>
          <a:prstGeom prst="rect">
            <a:avLst/>
          </a:prstGeom>
          <a:solidFill>
            <a:srgbClr val="1B4D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 complète &amp; fonctionnelle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Intégration IA performante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206654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UX intuitive &amp; fluide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3225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Architecture scalable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5786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Code bien structuré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Tests complets réussis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09067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Documentation complète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0" y="1143000"/>
            <a:ext cx="3840480" cy="274320"/>
          </a:xfrm>
          <a:prstGeom prst="rect">
            <a:avLst/>
          </a:prstGeom>
          <a:solidFill>
            <a:srgbClr val="1B4D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FUTURES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55448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Extension vers iOS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0" y="181051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🥽 Réalité augmentée (AR)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0" y="20665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Marketplace de mobilier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0" y="232257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Styles personnalisés par IA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0" y="257860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Version Premium exclusive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0" y="283464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Support multilingue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309067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Analytics utilisateurs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DU PROJET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2011680" cy="731520"/>
          </a:xfrm>
          <a:prstGeom prst="rect">
            <a:avLst/>
          </a:prstGeom>
          <a:solidFill>
            <a:srgbClr val="4A9B7F"/>
          </a:solidFill>
          <a:ln w="12700">
            <a:solidFill>
              <a:srgbClr val="1B4D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43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0" y="4297680"/>
            <a:ext cx="2011680" cy="731520"/>
          </a:xfrm>
          <a:prstGeom prst="rect">
            <a:avLst/>
          </a:prstGeom>
          <a:solidFill>
            <a:srgbClr val="4A9B7F"/>
          </a:solidFill>
          <a:ln w="12700">
            <a:solidFill>
              <a:srgbClr val="1B4D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4343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56032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développement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4297680"/>
            <a:ext cx="2011680" cy="731520"/>
          </a:xfrm>
          <a:prstGeom prst="rect">
            <a:avLst/>
          </a:prstGeom>
          <a:solidFill>
            <a:srgbClr val="4A9B7F"/>
          </a:solidFill>
          <a:ln w="12700">
            <a:solidFill>
              <a:srgbClr val="1B4D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343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5000+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6344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code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66560" y="4297680"/>
            <a:ext cx="2011680" cy="731520"/>
          </a:xfrm>
          <a:prstGeom prst="rect">
            <a:avLst/>
          </a:prstGeom>
          <a:solidFill>
            <a:srgbClr val="4A9B7F"/>
          </a:solidFill>
          <a:ln w="12700">
            <a:solidFill>
              <a:srgbClr val="1B4D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4343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6656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réussis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457200" y="5029200"/>
            <a:ext cx="2286000" cy="1828800"/>
          </a:xfrm>
          <a:prstGeom prst="rect">
            <a:avLst/>
          </a:prstGeom>
          <a:solidFill>
            <a:srgbClr val="4A9B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! 🙏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hafsa.elouatiki@emsi.ma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EMSI - École Marocaine des Sciences de l'Ingénieur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DecoIA v1.0 |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769</Words>
  <Application>Microsoft Office PowerPoint</Application>
  <PresentationFormat>Affichage à l'écran (16:9)</PresentationFormat>
  <Paragraphs>215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HAFSA ELOUATIKI</cp:lastModifiedBy>
  <cp:revision>2</cp:revision>
  <dcterms:created xsi:type="dcterms:W3CDTF">2026-05-20T08:30:44Z</dcterms:created>
  <dcterms:modified xsi:type="dcterms:W3CDTF">2026-05-20T19:11:23Z</dcterms:modified>
</cp:coreProperties>
</file>